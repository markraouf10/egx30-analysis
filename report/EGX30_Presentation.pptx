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EGX30 Close</c:v>
                </c:pt>
              </c:strCache>
            </c:strRef>
          </c:tx>
          <c:spPr>
            <a:solidFill>
              <a:srgbClr val="4E9FF5"/>
            </a:solidFill>
            <a:ln w="25400" cap="flat">
              <a:solidFill>
                <a:srgbClr val="4E9F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9FF5"/>
              </a:solidFill>
              <a:ln w="9525" cap="flat">
                <a:solidFill>
                  <a:srgbClr val="4E9F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  <c:pt idx="12">
                    <c:v>2026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7200</c:v>
                </c:pt>
                <c:pt idx="1">
                  <c:v>6800</c:v>
                </c:pt>
                <c:pt idx="2">
                  <c:v>7500</c:v>
                </c:pt>
                <c:pt idx="3">
                  <c:v>14500</c:v>
                </c:pt>
                <c:pt idx="4">
                  <c:v>13800</c:v>
                </c:pt>
                <c:pt idx="5">
                  <c:v>13400</c:v>
                </c:pt>
                <c:pt idx="6">
                  <c:v>11200</c:v>
                </c:pt>
                <c:pt idx="7">
                  <c:v>12800</c:v>
                </c:pt>
                <c:pt idx="8">
                  <c:v>9800</c:v>
                </c:pt>
                <c:pt idx="9">
                  <c:v>18500</c:v>
                </c:pt>
                <c:pt idx="10">
                  <c:v>28000</c:v>
                </c:pt>
                <c:pt idx="11">
                  <c:v>42000</c:v>
                </c:pt>
                <c:pt idx="12">
                  <c:v>52000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 30</c:v>
                </c:pt>
              </c:strCache>
            </c:strRef>
          </c:tx>
          <c:spPr>
            <a:solidFill>
              <a:srgbClr val="EA580C"/>
            </a:solidFill>
            <a:ln w="190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</c:v>
                </c:pt>
                <c:pt idx="1">
                  <c:v>22</c:v>
                </c:pt>
                <c:pt idx="2">
                  <c:v>35</c:v>
                </c:pt>
                <c:pt idx="3">
                  <c:v>15</c:v>
                </c:pt>
                <c:pt idx="4">
                  <c:v>18</c:v>
                </c:pt>
                <c:pt idx="5">
                  <c:v>16</c:v>
                </c:pt>
                <c:pt idx="6">
                  <c:v>55</c:v>
                </c:pt>
                <c:pt idx="7">
                  <c:v>20</c:v>
                </c:pt>
                <c:pt idx="8">
                  <c:v>45</c:v>
                </c:pt>
                <c:pt idx="9">
                  <c:v>22</c:v>
                </c:pt>
                <c:pt idx="10">
                  <c:v>35</c:v>
                </c:pt>
                <c:pt idx="11">
                  <c:v>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Drawdown</c:v>
                </c:pt>
              </c:strCache>
            </c:strRef>
          </c:tx>
          <c:spPr>
            <a:solidFill>
              <a:srgbClr val="F87171"/>
            </a:solidFill>
            <a:ln w="19050" cap="flat">
              <a:solidFill>
                <a:srgbClr val="F871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-5</c:v>
                </c:pt>
                <c:pt idx="1">
                  <c:v>-18</c:v>
                </c:pt>
                <c:pt idx="2">
                  <c:v>-8</c:v>
                </c:pt>
                <c:pt idx="3">
                  <c:v>0</c:v>
                </c:pt>
                <c:pt idx="4">
                  <c:v>-15</c:v>
                </c:pt>
                <c:pt idx="5">
                  <c:v>-20</c:v>
                </c:pt>
                <c:pt idx="6">
                  <c:v>-35</c:v>
                </c:pt>
                <c:pt idx="7">
                  <c:v>-10</c:v>
                </c:pt>
                <c:pt idx="8">
                  <c:v>-52.85</c:v>
                </c:pt>
                <c:pt idx="9">
                  <c:v>-15</c:v>
                </c:pt>
                <c:pt idx="10">
                  <c:v>-5</c:v>
                </c:pt>
                <c:pt idx="11">
                  <c:v>-8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%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9f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f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9f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Sunday</c:v>
                  </c:pt>
                  <c:pt idx="1">
                    <c:v>Monday</c:v>
                  </c:pt>
                  <c:pt idx="2">
                    <c:v>Tuesday</c:v>
                  </c:pt>
                  <c:pt idx="3">
                    <c:v>Wednesday</c:v>
                  </c:pt>
                  <c:pt idx="4">
                    <c:v>Thursday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-0.095</c:v>
                </c:pt>
                <c:pt idx="1">
                  <c:v>0.019</c:v>
                </c:pt>
                <c:pt idx="2">
                  <c:v>0.129</c:v>
                </c:pt>
                <c:pt idx="3">
                  <c:v>0.083</c:v>
                </c:pt>
                <c:pt idx="4">
                  <c:v>0.231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Return %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Non-Ramadan</c:v>
                  </c:pt>
                  <c:pt idx="1">
                    <c:v>Ramadan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0.08</c:v>
                </c:pt>
                <c:pt idx="1">
                  <c:v>-0.054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Return</c:v>
                </c:pt>
              </c:strCache>
            </c:strRef>
          </c:tx>
          <c:spPr>
            <a:solidFill>
              <a:srgbClr val="4E9F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</c:v>
                </c:pt>
                <c:pt idx="1">
                  <c:v>-23</c:v>
                </c:pt>
                <c:pt idx="2">
                  <c:v>8</c:v>
                </c:pt>
                <c:pt idx="3">
                  <c:v>22</c:v>
                </c:pt>
                <c:pt idx="4">
                  <c:v>-10</c:v>
                </c:pt>
                <c:pt idx="5">
                  <c:v>-15</c:v>
                </c:pt>
                <c:pt idx="6">
                  <c:v>-22</c:v>
                </c:pt>
                <c:pt idx="7">
                  <c:v>16</c:v>
                </c:pt>
                <c:pt idx="8">
                  <c:v>-15</c:v>
                </c:pt>
                <c:pt idx="9">
                  <c:v>66</c:v>
                </c:pt>
                <c:pt idx="10">
                  <c:v>53</c:v>
                </c:pt>
                <c:pt idx="11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Risk-Free Rate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</c:v>
                </c:pt>
                <c:pt idx="1">
                  <c:v>27</c:v>
                </c:pt>
                <c:pt idx="2">
                  <c:v>27</c:v>
                </c:pt>
                <c:pt idx="3">
                  <c:v>27</c:v>
                </c:pt>
                <c:pt idx="4">
                  <c:v>27</c:v>
                </c:pt>
                <c:pt idx="5">
                  <c:v>27</c:v>
                </c:pt>
                <c:pt idx="6">
                  <c:v>27</c:v>
                </c:pt>
                <c:pt idx="7">
                  <c:v>27</c:v>
                </c:pt>
                <c:pt idx="8">
                  <c:v>27</c:v>
                </c:pt>
                <c:pt idx="9">
                  <c:v>27</c:v>
                </c:pt>
                <c:pt idx="10">
                  <c:v>27</c:v>
                </c:pt>
                <c:pt idx="11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E9FF5"/>
          </a:solidFill>
          <a:ln w="12700">
            <a:solidFill>
              <a:srgbClr val="4E9F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EGX30 Historical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Analysis, Technical Indicators &amp; ARIMA Forecasting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3657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Exchange (EGX)  ·  January 2014 – May 2026  ·  3,000 Trading Days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Academy for Science, Technology &amp; Maritime Transport  ·  Data Analysis Course  ·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github.com/markraouf10/EGX30-Analysis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859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analyzed and where the data comes from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72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007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history, returns, volatility, drawdown, volume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756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Ramadan Effects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042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patterns and Ramadan market behavior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6791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ratio, VaR, CVaR, and annual performance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826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5112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averages, RSI, MACD, Bollinger Bands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886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114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modeling and predictability assessment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443984"/>
            <a:ext cx="85039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4897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480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Conclusions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7183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and 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Analyzed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EGX30 index — top 30 companies on the Egyptian Exchange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of daily OHLCV data (Open, High, Low, Close, Volume)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trading days from January 2014 to May 2026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Sunday–Thursday trading week (Egyptian work calendar)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 economic events analyzed: 2016 EGP float, COVID-19, 2022 &amp; 2024 currency crises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371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029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6883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(OHLCV + Returns)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3346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(after cleaning)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Gaps (forward-filled)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65176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666.9%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95224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(12 yrs)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822960"/>
            <a:ext cx="265176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91440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195224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822960"/>
            <a:ext cx="265176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91440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72200" y="195224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Volatility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2608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-52.85%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" y="396392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834640"/>
            <a:ext cx="265176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292608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396392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(RF=27%)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834640"/>
            <a:ext cx="2651760" cy="1737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92608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3963924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Dir. Accuracy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uses Egyptian T-bill rate (RF = 27%) as risk-free benchmark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EGX30 Price History &amp; Major Events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8412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874520" y="89611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Float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977640" y="89611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394960" y="89611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Devaluation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040880" y="89611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4160520"/>
            <a:ext cx="402336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4160520"/>
            <a:ext cx="54864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206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grew from ~6,800 to ~52,500 — a 666.9% total return over 12 years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4160520"/>
            <a:ext cx="402336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4160520"/>
            <a:ext cx="54864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4206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devaluation caused the worst sustained crash — max drawdown of -52.85%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Analysis &amp;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432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Statistics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(daily)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755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1.369%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231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+6.49%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706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-9.81%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3182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 (left tail)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657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5.82 (fat tails)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(JB)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4133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p≈0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822960"/>
            <a:ext cx="557784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914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Distribution Findings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1325880"/>
            <a:ext cx="457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325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Normally Distributed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test p-value ≈ 0. Returns fail the normality test — standard financial models that assume normality underestimate risk.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2103120"/>
            <a:ext cx="4572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103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Tails (Leptokurtic)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93008" y="2350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of 5.82 means extreme daily moves (crashes and rallies) occur far more often than a normal distribution would predict.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0128" y="2880360"/>
            <a:ext cx="457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880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Skew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93008" y="31272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tail is slightly longer than right — extreme losses are marginally more likely than extreme gains of the same magnitude.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3657600"/>
            <a:ext cx="45720" cy="640080"/>
          </a:xfrm>
          <a:prstGeom prst="rect">
            <a:avLst/>
          </a:prstGeom>
          <a:solidFill>
            <a:srgbClr val="4E9FF5"/>
          </a:solidFill>
          <a:ln w="12700">
            <a:solidFill>
              <a:srgbClr val="4E9F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657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 Used Throughout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93008" y="3904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log returns (not price) because they are time-additive, stationary, and better-suited for statistical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Clustering &amp; Drawdown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1480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Annualized Volatility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70432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822960"/>
            <a:ext cx="411480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from Peak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170432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246120"/>
            <a:ext cx="41148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246120"/>
            <a:ext cx="54864" cy="1600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Clustering Confirmed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36393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periods cluster together; turbulent periods follow turbulent periods. COVID (2020) peaked at ~55% ann. vol, 2022 at ~45%.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27448" y="3246120"/>
            <a:ext cx="41148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27448" y="3246120"/>
            <a:ext cx="54864" cy="1600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10328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 -52.85%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0328" y="36393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investor bought at the 2022 peak, they lost over half their investment by July 5, 2022 — the worst peak-to-trough in 12 years.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Effects &amp; Ramadan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14800" cy="2926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by Day of Week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70432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02336" y="3429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-0.095%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0432" y="3429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+0.019%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938528" y="3429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+0.129%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06624" y="3429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+0.083%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74720" y="342900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+0.231%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822960"/>
            <a:ext cx="4114800" cy="2926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886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Effect</a:t>
            </a:r>
            <a:endParaRPr lang="en-US" sz="11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754880" y="1170432"/>
          <a:ext cx="1828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800600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+0.080%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733288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-0.054%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72084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Non-Ramadan Vol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720840" y="1627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72084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Vol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20840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720840" y="2871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Days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720840" y="3127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/ 3,000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320040" y="3886200"/>
            <a:ext cx="8503920" cy="960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3886200"/>
            <a:ext cx="54864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Effect: 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(first trading day) has the lowest average return (-0.095%) while Thursday has the highest (+0.231%). </a:t>
            </a:r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Sunday vs Thursday difference is statistically significant (p=0.0001) — but Sunday alone is not significantly different from zero (p=0.135).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 &amp; Annual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1965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09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(RF=27%)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777240"/>
            <a:ext cx="1965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86868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-2.01%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609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95% (daily)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1965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6868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-4.12%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09160" y="1609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99% (daily)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777240"/>
            <a:ext cx="196596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86868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0" y="16093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95% (daily)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8503920" cy="2651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267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Returns by Year vs Risk-Free Rate (27%)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542032"/>
          <a:ext cx="84124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&amp; Feature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1280160"/>
          </a:xfrm>
          <a:prstGeom prst="rect">
            <a:avLst/>
          </a:prstGeom>
          <a:solidFill>
            <a:srgbClr val="4E9FF5"/>
          </a:solidFill>
          <a:ln w="12700">
            <a:solidFill>
              <a:srgbClr val="4E9F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/ 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 20, 50, 200-day windows. SMA gives equal weight; EMA reacts faster to recent prices. Used to identify trends and crossover signals.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6052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22960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(14)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2070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 Index: momentum oscillator 0 to 100. Above 70 = overbought; below 30 = oversold. Built from 14-day average gains vs average losses.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16052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40280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12-day and 26-day EMA. Signal line = 9-day EMA of MACD. Captures trend momentum and direction change. Histogram = MACD minus Signal.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416052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54864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624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envelope: 20-day SMA ± 2 standard deviations. BB_Width narrows before big moves; BB_Pct shows where price sits in the band (0 = low, 1 = high).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416052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57600"/>
            <a:ext cx="54864" cy="12801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 (14)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041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True Range: measures volatility using the full daily price range including overnight gaps. Higher ATR = more volatile market conditions.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6052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54864" cy="128016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Features Total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041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indicators + lag returns (1/2/3/5/10 days) + rolling volatility + volume ratio. Correlation heatmap confirms minimal redundancy across features.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Charts for all indicators are available in the project notebook and GitHub repository  ·  github.com/markraouf10/EGX30-Analysis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 &amp; Market Efficiency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1828800"/>
          </a:xfrm>
          <a:prstGeom prst="rect">
            <a:avLst/>
          </a:prstGeom>
          <a:solidFill>
            <a:srgbClr val="4E9FF5"/>
          </a:solidFill>
          <a:ln w="12700">
            <a:solidFill>
              <a:srgbClr val="4E9F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ACF ≈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 show minimal autocorrelation at all lags — today's return gives almost no information about tomorrow's. This is the statistical definition of weak-form market efficiency.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6052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22960"/>
            <a:ext cx="54864" cy="1828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Returns ACF ≫ 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returns show strong autocorrelation — confirming volatility clustering. Large moves today predict large moves tomorrow (but not the direction).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16052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34640"/>
            <a:ext cx="54864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Weak-Form Efficiency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price data cannot be reliably used to earn above-market returns. The EGX30 has largely priced in historical information.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16052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834640"/>
            <a:ext cx="54864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ARCH/GARCH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ACF in squared returns is the signature of ARCH effects — variance is not constant, it clusters around events and crises.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directly motivated the choice of ARIMA for forecasting — if returns had strong ACF, a more aggressive AR model would be warranted.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ARIMA(0,0,2) Forecasting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80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ARIMA(0,0,2)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755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2311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 terms (insignificant)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7066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stationary (ADF confirmed)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2: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3182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 terms (both significant)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period: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2014 – Nov 2024 (85%)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period: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4133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– May 2026 (15%)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1280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0.01118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755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755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231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2231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59.56%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706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706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182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p (lag 10):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3182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 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p (lag 20):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0.246 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133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4133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noise 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956048"/>
            <a:ext cx="8503920" cy="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59.56% directional accuracy means the model beats random chance (50%) by ~9.5pp — confirming modest but real short-term predictability, consistent with near weak-form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2600" dirty="0"/>
          </a:p>
        </p:txBody>
      </p:sp>
      <p:pic>
        <p:nvPicPr>
          <p:cNvPr id="3" name="Image 0" descr="/mnt/user-data/uploads/177820529147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22960"/>
            <a:ext cx="85039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date slicer filters all visuals simultaneously  ·  Built with Power BI Desktop  ·  Data source: EGX30_cleaned.csv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nominal return, weak risk-adjusted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EGX30 delivered 666.9% total return (17.16% annualized) but a Sharpe of -0.45 with RF=27% means Egyptian T-bills outperformed on a risk-adjusted basis.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85039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54864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19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weak-form efficient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show minimal autocorrelation. ARIMA achieves only 59.56% directional accuracy. Past prices contain little exploitable information — consistent with weak-form efficiency.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05456"/>
            <a:ext cx="54864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concentrates around crises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852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clustering is statistically confirmed via ACF of squared returns. Max drawdown of -52.85% shows how severe and sustained crisis impacts can be.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46704"/>
            <a:ext cx="85039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46704"/>
            <a:ext cx="54864" cy="749808"/>
          </a:xfrm>
          <a:prstGeom prst="rect">
            <a:avLst/>
          </a:prstGeom>
          <a:solidFill>
            <a:srgbClr val="4E9FF5"/>
          </a:solidFill>
          <a:ln w="12700">
            <a:solidFill>
              <a:srgbClr val="4E9F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anomalies are real but small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6941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underperforms Thursday significantly (p=0.0001). Ramadan periods show negative average returns (-0.054%) and higher volatility (24.3% vs 21.4%). Real but not easily exploitable.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187952"/>
            <a:ext cx="54864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242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effect is an original finding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535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Ramadan market anomaly is rarely covered in international literature. This project contributes a documented, quantified analysis of a MENA-specific market phenomenon.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E9FF5"/>
          </a:solidFill>
          <a:ln w="12700">
            <a:solidFill>
              <a:srgbClr val="4E9F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9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3657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29718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github.com/markraouf10/EGX30-Analysis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3383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EGX_30_Historical_Data.csv  (Investing.com)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7947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Statsmodels · Power BI · Git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42062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  ·  Data Analysis Course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EGX30 Historical Analysis</dc:title>
  <dc:subject>PptxGenJS Presentation</dc:subject>
  <dc:creator>PptxGenJS</dc:creator>
  <cp:lastModifiedBy>PptxGenJS</cp:lastModifiedBy>
  <cp:revision>1</cp:revision>
  <dcterms:created xsi:type="dcterms:W3CDTF">2026-05-08T02:17:40Z</dcterms:created>
  <dcterms:modified xsi:type="dcterms:W3CDTF">2026-05-08T02:17:40Z</dcterms:modified>
</cp:coreProperties>
</file>